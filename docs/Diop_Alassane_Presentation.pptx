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30.jpg" ContentType="image/jp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12192000"/>
  <p:embeddedFontLst>
    <p:embeddedFont>
      <p:font typeface="Calibri Light" pitchFamily="34" charset="0"/>
      <p:regular r:id="rId19"/>
      <p:italic r:id="rId20"/>
    </p:embeddedFont>
    <p:embeddedFont>
      <p:font typeface="Calibri" pitchFamily="34" charset="0"/>
      <p:regular r:id="rId21"/>
      <p:bold r:id="rId22"/>
      <p:italic r:id="rId23"/>
      <p:boldItalic r:id="rId24"/>
    </p:embeddedFont>
    <p:embeddedFont>
      <p:font typeface="Inter" charset="0"/>
      <p:regular r:id="rId25"/>
    </p:embeddedFont>
    <p:embeddedFont>
      <p:font typeface="Arial Rounded MT Bold" pitchFamily="34" charset="0"/>
      <p:regular r:id="rId26"/>
    </p:embeddedFont>
    <p:embeddedFont>
      <p:font typeface="Poppins" charset="0"/>
      <p:regular r:id="rId27"/>
    </p:embeddedFont>
    <p:embeddedFont>
      <p:font typeface="Nirmala UI Semilight" pitchFamily="34" charset="0"/>
      <p:regular r:id="rId28"/>
    </p:embeddedFont>
    <p:embeddedFont>
      <p:font typeface="Nirmala UI" pitchFamily="34" charset="0"/>
      <p:regular r:id="rId29"/>
      <p:bold r:id="rId30"/>
    </p:embeddedFont>
    <p:embeddedFont>
      <p:font typeface="Arial Black" pitchFamily="34" charset="0"/>
      <p:bold r:id="rId31"/>
    </p:embeddedFont>
    <p:embeddedFont>
      <p:font typeface="Perpetua Titling MT" pitchFamily="18" charset="0"/>
      <p:regular r:id="rId32"/>
      <p:bold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9" autoAdjust="0"/>
    <p:restoredTop sz="94610" autoAdjust="0"/>
  </p:normalViewPr>
  <p:slideViewPr>
    <p:cSldViewPr snapToGrid="0" snapToObjects="1">
      <p:cViewPr>
        <p:scale>
          <a:sx n="60" d="100"/>
          <a:sy n="60" d="100"/>
        </p:scale>
        <p:origin x="-1266" y="-3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1E5FC-08FB-4A3A-91E3-A7ADDFA247A2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026E2-7D07-478C-AECF-B6D152230E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805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‹N°›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8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3127" y="-8906"/>
            <a:ext cx="12275128" cy="686690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60960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0600" y="647700"/>
            <a:ext cx="281635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50" dirty="0">
                <a:solidFill>
                  <a:srgbClr val="FFFFFF"/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ÉCOSYSTÈME TECH AFRICAIN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9600" y="1714500"/>
            <a:ext cx="114300" cy="26670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1714500"/>
            <a:ext cx="1143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3810000"/>
            <a:ext cx="114300" cy="5715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419225" y="2095500"/>
            <a:ext cx="9628632" cy="171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AFRITALENT — </a:t>
            </a:r>
            <a:r>
              <a:rPr lang="en-US" sz="2800" b="1" dirty="0">
                <a:solidFill>
                  <a:srgbClr val="FFFFFF"/>
                </a:solidFill>
                <a:latin typeface="Nirmala UI" pitchFamily="34" charset="0"/>
                <a:ea typeface="Nirmala UI" pitchFamily="34" charset="0"/>
                <a:cs typeface="Nirmala UI" pitchFamily="34" charset="0"/>
              </a:rPr>
              <a:t>PLATEFORME DE FREELANCES TECH EN AFRIQUE</a:t>
            </a:r>
            <a:endParaRPr lang="en-US" sz="2400" dirty="0">
              <a:latin typeface="Nirmala UI" pitchFamily="34" charset="0"/>
              <a:ea typeface="Nirmala UI" pitchFamily="34" charset="0"/>
              <a:cs typeface="Nirmala UI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04900" y="4267198"/>
            <a:ext cx="9765792" cy="76200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09600" y="5391150"/>
            <a:ext cx="2600325" cy="857250"/>
          </a:xfrm>
          <a:prstGeom prst="roundRect">
            <a:avLst>
              <a:gd name="adj" fmla="val 444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00100" y="5581650"/>
            <a:ext cx="476250" cy="476250"/>
          </a:xfrm>
          <a:prstGeom prst="roundRect">
            <a:avLst>
              <a:gd name="adj" fmla="val 192000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9162" y="5724525"/>
            <a:ext cx="238125" cy="1905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9225" y="5664963"/>
            <a:ext cx="1627632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RÉSEAU DE TALENTS</a:t>
            </a:r>
            <a:endParaRPr lang="en-US" sz="975" dirty="0"/>
          </a:p>
        </p:txBody>
      </p:sp>
      <p:sp>
        <p:nvSpPr>
          <p:cNvPr id="14" name="Text 10"/>
          <p:cNvSpPr/>
          <p:nvPr/>
        </p:nvSpPr>
        <p:spPr>
          <a:xfrm>
            <a:off x="1419225" y="5843588"/>
            <a:ext cx="1618488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+10k Développeurs vérifiés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400425" y="5391150"/>
            <a:ext cx="2600325" cy="857250"/>
          </a:xfrm>
          <a:prstGeom prst="roundRect">
            <a:avLst>
              <a:gd name="adj" fmla="val 444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590925" y="5581650"/>
            <a:ext cx="476250" cy="476250"/>
          </a:xfrm>
          <a:prstGeom prst="roundRect">
            <a:avLst>
              <a:gd name="adj" fmla="val 192000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19512" y="5724525"/>
            <a:ext cx="219075" cy="190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10050" y="5581650"/>
            <a:ext cx="166420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PROJETS RÉALISÉS</a:t>
            </a:r>
            <a:endParaRPr lang="en-US" sz="975" dirty="0"/>
          </a:p>
        </p:txBody>
      </p:sp>
      <p:sp>
        <p:nvSpPr>
          <p:cNvPr id="19" name="Text 14"/>
          <p:cNvSpPr/>
          <p:nvPr/>
        </p:nvSpPr>
        <p:spPr>
          <a:xfrm>
            <a:off x="4210050" y="5772150"/>
            <a:ext cx="1627632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500+ Missions tech réussies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191250" y="5391150"/>
            <a:ext cx="2600325" cy="857250"/>
          </a:xfrm>
          <a:prstGeom prst="roundRect">
            <a:avLst>
              <a:gd name="adj" fmla="val 444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381750" y="5581650"/>
            <a:ext cx="476250" cy="476250"/>
          </a:xfrm>
          <a:prstGeom prst="roundRect">
            <a:avLst>
              <a:gd name="adj" fmla="val 192000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24625" y="5724525"/>
            <a:ext cx="190500" cy="1905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00875" y="5581650"/>
            <a:ext cx="166420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CROISSANCE LOCALE</a:t>
            </a:r>
            <a:endParaRPr lang="en-US" sz="975" dirty="0"/>
          </a:p>
        </p:txBody>
      </p:sp>
      <p:sp>
        <p:nvSpPr>
          <p:cNvPr id="24" name="Text 18"/>
          <p:cNvSpPr/>
          <p:nvPr/>
        </p:nvSpPr>
        <p:spPr>
          <a:xfrm>
            <a:off x="7000875" y="5772150"/>
            <a:ext cx="1627632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numérique continental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982075" y="5391150"/>
            <a:ext cx="2600325" cy="857250"/>
          </a:xfrm>
          <a:prstGeom prst="roundRect">
            <a:avLst>
              <a:gd name="adj" fmla="val 444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9172575" y="5581650"/>
            <a:ext cx="476250" cy="476250"/>
          </a:xfrm>
          <a:prstGeom prst="roundRect">
            <a:avLst>
              <a:gd name="adj" fmla="val 192000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91638" y="5724525"/>
            <a:ext cx="238125" cy="1905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91700" y="565308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EXPERTISE TECH</a:t>
            </a:r>
            <a:endParaRPr lang="en-US" sz="975" dirty="0"/>
          </a:p>
        </p:txBody>
      </p:sp>
      <p:sp>
        <p:nvSpPr>
          <p:cNvPr id="29" name="Text 22"/>
          <p:cNvSpPr/>
          <p:nvPr/>
        </p:nvSpPr>
        <p:spPr>
          <a:xfrm>
            <a:off x="9791700" y="5843588"/>
            <a:ext cx="1527048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IA, Cloud et Cybersécurité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639425" y="94261"/>
            <a:ext cx="1428750" cy="1428750"/>
          </a:xfrm>
          <a:prstGeom prst="roundRect">
            <a:avLst>
              <a:gd name="adj" fmla="val 640000"/>
            </a:avLst>
          </a:prstGeom>
          <a:noFill/>
          <a:ln w="19050">
            <a:solidFill>
              <a:srgbClr val="E94560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381000" y="5334000"/>
            <a:ext cx="1905000" cy="1905000"/>
          </a:xfrm>
          <a:prstGeom prst="roundRect">
            <a:avLst>
              <a:gd name="adj" fmla="val 480000"/>
            </a:avLst>
          </a:prstGeom>
          <a:noFill/>
          <a:ln w="19050">
            <a:solidFill>
              <a:srgbClr val="E94560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76250"/>
            <a:ext cx="219075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4875" y="500063"/>
            <a:ext cx="5257800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kern="0" spc="150" dirty="0">
                <a:solidFill>
                  <a:srgbClr val="F8F9FA"/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AFRITALENT — PLATEFORME DE FREELANCES TECH EN AFRIQUE</a:t>
            </a:r>
            <a:endParaRPr lang="en-US" sz="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944761"/>
            <a:ext cx="57150" cy="66675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19150" y="923925"/>
            <a:ext cx="27889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DU PROJET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9150" y="1154385"/>
            <a:ext cx="2825496" cy="4846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</a:rPr>
              <a:t>SOMMAIRE</a:t>
            </a:r>
            <a:endParaRPr lang="en-US" sz="2400" dirty="0">
              <a:latin typeface="Nirmala UI Semilight" pitchFamily="34" charset="0"/>
              <a:ea typeface="Nirmala UI Semilight" pitchFamily="34" charset="0"/>
              <a:cs typeface="Nirmala UI Semilight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20134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71500" y="20134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" y="21277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1100" y="2132558"/>
            <a:ext cx="375818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AFRITALENT — PLATEFORME DE FREELANCES TECH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571500" y="25468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71500" y="25468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0100" y="26611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81100" y="2665958"/>
            <a:ext cx="167335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SOMMAIRE DU PROJET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571500" y="30802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71500" y="30802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0100" y="31945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1100" y="3199358"/>
            <a:ext cx="197510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 DU PROJET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571500" y="36136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71500" y="36136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0100" y="37279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81100" y="3732758"/>
            <a:ext cx="173736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 DE COULEURS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571500" y="41470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571500" y="41470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0100" y="42613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81100" y="4266158"/>
            <a:ext cx="185623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TYPOGRAPHIE ET DESIGN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571500" y="46804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71500" y="46804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0100" y="47947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81100" y="4799558"/>
            <a:ext cx="205740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ARBORESCENCE DU PROJET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571500" y="52138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571500" y="52138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0100" y="53281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181100" y="5332958"/>
            <a:ext cx="151790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5 PAGES DU SITE</a:t>
            </a:r>
            <a:endParaRPr lang="en-US" sz="1125" dirty="0"/>
          </a:p>
        </p:txBody>
      </p:sp>
      <p:sp>
        <p:nvSpPr>
          <p:cNvPr id="38" name="Text 35"/>
          <p:cNvSpPr/>
          <p:nvPr/>
        </p:nvSpPr>
        <p:spPr>
          <a:xfrm>
            <a:off x="571500" y="57472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6"/>
          <p:cNvSpPr/>
          <p:nvPr/>
        </p:nvSpPr>
        <p:spPr>
          <a:xfrm>
            <a:off x="571500" y="57472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0100" y="58615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181100" y="5866358"/>
            <a:ext cx="261518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TECHNIQUE : MODE SOMBRE</a:t>
            </a:r>
            <a:endParaRPr lang="en-US" sz="1125" dirty="0"/>
          </a:p>
        </p:txBody>
      </p:sp>
      <p:sp>
        <p:nvSpPr>
          <p:cNvPr id="42" name="Text 39"/>
          <p:cNvSpPr/>
          <p:nvPr/>
        </p:nvSpPr>
        <p:spPr>
          <a:xfrm>
            <a:off x="6334125" y="20134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6334125" y="20134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62725" y="21277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943725" y="2132558"/>
            <a:ext cx="304495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TECHNIQUE : COMPTEURS ANIMÉS</a:t>
            </a:r>
            <a:endParaRPr lang="en-US" sz="1125" dirty="0"/>
          </a:p>
        </p:txBody>
      </p:sp>
      <p:sp>
        <p:nvSpPr>
          <p:cNvPr id="46" name="Text 43"/>
          <p:cNvSpPr/>
          <p:nvPr/>
        </p:nvSpPr>
        <p:spPr>
          <a:xfrm>
            <a:off x="6334125" y="25468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6334125" y="25468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62725" y="26611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943725" y="2665958"/>
            <a:ext cx="245059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ET FRAMEWORK BOOTSTRAP</a:t>
            </a:r>
            <a:endParaRPr lang="en-US" sz="1125" dirty="0"/>
          </a:p>
        </p:txBody>
      </p:sp>
      <p:sp>
        <p:nvSpPr>
          <p:cNvPr id="50" name="Text 47"/>
          <p:cNvSpPr/>
          <p:nvPr/>
        </p:nvSpPr>
        <p:spPr>
          <a:xfrm>
            <a:off x="6334125" y="30802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8"/>
          <p:cNvSpPr/>
          <p:nvPr/>
        </p:nvSpPr>
        <p:spPr>
          <a:xfrm>
            <a:off x="6334125" y="30802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62725" y="31945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943725" y="3199358"/>
            <a:ext cx="200253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GIT ET GITHUB</a:t>
            </a:r>
            <a:endParaRPr lang="en-US" sz="1125" dirty="0"/>
          </a:p>
        </p:txBody>
      </p:sp>
      <p:sp>
        <p:nvSpPr>
          <p:cNvPr id="54" name="Text 51"/>
          <p:cNvSpPr/>
          <p:nvPr/>
        </p:nvSpPr>
        <p:spPr>
          <a:xfrm>
            <a:off x="6334125" y="36136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2"/>
          <p:cNvSpPr/>
          <p:nvPr/>
        </p:nvSpPr>
        <p:spPr>
          <a:xfrm>
            <a:off x="6334125" y="36136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562725" y="37279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6943725" y="3732758"/>
            <a:ext cx="204825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DIFFICULTÉS ET SOLUTIONS</a:t>
            </a:r>
            <a:endParaRPr lang="en-US" sz="1125" dirty="0"/>
          </a:p>
        </p:txBody>
      </p:sp>
      <p:sp>
        <p:nvSpPr>
          <p:cNvPr id="58" name="Text 55"/>
          <p:cNvSpPr/>
          <p:nvPr/>
        </p:nvSpPr>
        <p:spPr>
          <a:xfrm>
            <a:off x="6334125" y="41470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Shape 56"/>
          <p:cNvSpPr/>
          <p:nvPr/>
        </p:nvSpPr>
        <p:spPr>
          <a:xfrm>
            <a:off x="6334125" y="41470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62725" y="42613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6943725" y="4266158"/>
            <a:ext cx="2532888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RESSOURCES ET DOCUMENTATION</a:t>
            </a:r>
            <a:endParaRPr lang="en-US" sz="1125" dirty="0"/>
          </a:p>
        </p:txBody>
      </p:sp>
      <p:sp>
        <p:nvSpPr>
          <p:cNvPr id="62" name="Text 59"/>
          <p:cNvSpPr/>
          <p:nvPr/>
        </p:nvSpPr>
        <p:spPr>
          <a:xfrm>
            <a:off x="6334125" y="46804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Shape 60"/>
          <p:cNvSpPr/>
          <p:nvPr/>
        </p:nvSpPr>
        <p:spPr>
          <a:xfrm>
            <a:off x="6334125" y="46804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562725" y="47947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6943725" y="4799558"/>
            <a:ext cx="164592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DÉMONSTRATION LIVE</a:t>
            </a:r>
            <a:endParaRPr lang="en-US" sz="1125" dirty="0"/>
          </a:p>
        </p:txBody>
      </p:sp>
      <p:sp>
        <p:nvSpPr>
          <p:cNvPr id="66" name="Text 63"/>
          <p:cNvSpPr/>
          <p:nvPr/>
        </p:nvSpPr>
        <p:spPr>
          <a:xfrm>
            <a:off x="6334125" y="5213896"/>
            <a:ext cx="5286375" cy="41910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Shape 64"/>
          <p:cNvSpPr/>
          <p:nvPr/>
        </p:nvSpPr>
        <p:spPr>
          <a:xfrm>
            <a:off x="6334125" y="5213896"/>
            <a:ext cx="0" cy="4191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562725" y="5328196"/>
            <a:ext cx="2743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943725" y="5332958"/>
            <a:ext cx="232257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ET PERSPECTIVES</a:t>
            </a:r>
            <a:endParaRPr lang="en-US" sz="1125" dirty="0"/>
          </a:p>
        </p:txBody>
      </p:sp>
      <p:sp>
        <p:nvSpPr>
          <p:cNvPr id="70" name="Text 67"/>
          <p:cNvSpPr/>
          <p:nvPr/>
        </p:nvSpPr>
        <p:spPr>
          <a:xfrm>
            <a:off x="10106025" y="6076950"/>
            <a:ext cx="1514475" cy="400050"/>
          </a:xfrm>
          <a:prstGeom prst="roundRect">
            <a:avLst>
              <a:gd name="adj" fmla="val 9524"/>
            </a:avLst>
          </a:prstGeom>
          <a:solidFill>
            <a:srgbClr val="E94560">
              <a:alpha val="10000"/>
            </a:srgbClr>
          </a:solidFill>
          <a:ln w="9525">
            <a:solidFill>
              <a:srgbClr val="E94560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10306050" y="6196013"/>
            <a:ext cx="93268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2025/</a:t>
            </a:r>
            <a:r>
              <a:rPr lang="en-US" sz="8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800" dirty="0"/>
          </a:p>
        </p:txBody>
      </p:sp>
      <p:pic>
        <p:nvPicPr>
          <p:cNvPr id="72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287125" y="6181725"/>
            <a:ext cx="133350" cy="15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180975" cy="190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0615" y="457200"/>
            <a:ext cx="273405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6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ÉCOSYSTÈME DIGITAL AFRICAIN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952500"/>
            <a:ext cx="7620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62000" y="952500"/>
            <a:ext cx="7598664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PLATEFORME DE FREELANCES TECH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1487760"/>
            <a:ext cx="7616952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630"/>
              </a:lnSpc>
              <a:buNone/>
            </a:pPr>
            <a:r>
              <a:rPr lang="en-US" sz="2800" b="1" dirty="0">
                <a:solidFill>
                  <a:srgbClr val="E9456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</a:rPr>
              <a:t>AFRITALENT - EXPERTISE AFRICAINE</a:t>
            </a:r>
            <a:endParaRPr lang="en-US" sz="2800" dirty="0">
              <a:latin typeface="Nirmala UI Semilight" pitchFamily="34" charset="0"/>
              <a:ea typeface="Nirmala UI Semilight" pitchFamily="34" charset="0"/>
              <a:cs typeface="Nirmala UI Semilight" pitchFamily="34" charset="0"/>
            </a:endParaRPr>
          </a:p>
        </p:txBody>
      </p:sp>
      <p:pic>
        <p:nvPicPr>
          <p:cNvPr id="9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346871"/>
            <a:ext cx="180975" cy="2095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2475" y="2327821"/>
            <a:ext cx="5184648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8F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 du Consultant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57200" y="2716411"/>
            <a:ext cx="5376672" cy="557784"/>
          </a:xfrm>
          <a:prstGeom prst="rect">
            <a:avLst/>
          </a:prstGeom>
          <a:noFill/>
          <a:ln/>
        </p:spPr>
        <p:txBody>
          <a:bodyPr vert="horz" wrap="square" lIns="34290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Alassane Diop, expert en formation L1 IAGE au sein de l'institut ISI.</a:t>
            </a:r>
            <a:endParaRPr lang="en-US" sz="1350" dirty="0"/>
          </a:p>
        </p:txBody>
      </p:sp>
      <p:pic>
        <p:nvPicPr>
          <p:cNvPr id="12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3590776"/>
            <a:ext cx="180975" cy="2095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2475" y="3571726"/>
            <a:ext cx="5184648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8F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Calendrier du Projet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57200" y="3961284"/>
            <a:ext cx="5477256" cy="283464"/>
          </a:xfrm>
          <a:prstGeom prst="rect">
            <a:avLst/>
          </a:prstGeom>
          <a:noFill/>
          <a:ln/>
        </p:spPr>
        <p:txBody>
          <a:bodyPr vert="horz" wrap="none" lIns="34290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Lancement officiel et </a:t>
            </a:r>
            <a:r>
              <a:rPr lang="en-US" sz="1600" dirty="0" smtClean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</a:t>
            </a:r>
            <a:r>
              <a:rPr lang="en-US" sz="1350" dirty="0" smtClean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00800" y="2327821"/>
            <a:ext cx="5334000" cy="1057275"/>
          </a:xfrm>
          <a:prstGeom prst="roundRect">
            <a:avLst>
              <a:gd name="adj" fmla="val 720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591300" y="2518321"/>
            <a:ext cx="166420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Croissance du Réseau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896600" y="2518321"/>
            <a:ext cx="6949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10%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591300" y="2823121"/>
            <a:ext cx="4953000" cy="9525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591300" y="2823121"/>
            <a:ext cx="4210050" cy="9525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591300" y="3032671"/>
            <a:ext cx="508406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de mobilisation des talents tech sur tout le continent.</a:t>
            </a:r>
            <a:endParaRPr lang="en-US" sz="800" dirty="0"/>
          </a:p>
        </p:txBody>
      </p:sp>
      <p:pic>
        <p:nvPicPr>
          <p:cNvPr id="21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" y="4636591"/>
            <a:ext cx="209550" cy="2095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6750" y="4617541"/>
            <a:ext cx="5276088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8F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Vision Stratégique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457200" y="5274766"/>
            <a:ext cx="304800" cy="304800"/>
          </a:xfrm>
          <a:prstGeom prst="roundRect">
            <a:avLst>
              <a:gd name="adj" fmla="val 96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3875" y="5360491"/>
            <a:ext cx="171450" cy="1333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76300" y="5236666"/>
            <a:ext cx="500176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Mise en Relation Tech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876300" y="5531941"/>
            <a:ext cx="5001768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Connecter les entreprises mondiales aux meilleurs développeurs africains.</a:t>
            </a:r>
            <a:endParaRPr lang="en-US" sz="1125" dirty="0"/>
          </a:p>
        </p:txBody>
      </p:sp>
      <p:pic>
        <p:nvPicPr>
          <p:cNvPr id="27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00800" y="4636591"/>
            <a:ext cx="209550" cy="2095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10350" y="4617541"/>
            <a:ext cx="5276088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8F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Identité Visuelle</a:t>
            </a:r>
            <a:endParaRPr lang="en-US" sz="1650" dirty="0"/>
          </a:p>
        </p:txBody>
      </p:sp>
      <p:sp>
        <p:nvSpPr>
          <p:cNvPr id="29" name="Text 21"/>
          <p:cNvSpPr/>
          <p:nvPr/>
        </p:nvSpPr>
        <p:spPr>
          <a:xfrm>
            <a:off x="6400800" y="5274766"/>
            <a:ext cx="304800" cy="304800"/>
          </a:xfrm>
          <a:prstGeom prst="roundRect">
            <a:avLst>
              <a:gd name="adj" fmla="val 96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6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86525" y="5360491"/>
            <a:ext cx="133350" cy="1333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19900" y="5236666"/>
            <a:ext cx="438912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Moderne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6819900" y="5531941"/>
            <a:ext cx="438912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sombre #1a1a2e avec accents énergiques en #e94560.</a:t>
            </a:r>
            <a:endParaRPr lang="en-US" sz="11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11874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180975" cy="19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2475" y="476250"/>
            <a:ext cx="396849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3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 DU FREELANCING TECH EN AFRIQUE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7620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914400"/>
            <a:ext cx="3950208" cy="5303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SOMMAIRE DU PROJET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62000" y="1514475"/>
            <a:ext cx="397764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00" b="1" kern="0" spc="90" dirty="0">
                <a:solidFill>
                  <a:srgbClr val="E94560"/>
                </a:solidFill>
                <a:latin typeface="Nirmala UI" pitchFamily="34" charset="0"/>
                <a:ea typeface="Nirmala UI" pitchFamily="34" charset="0"/>
                <a:cs typeface="Nirmala UI" pitchFamily="34" charset="0"/>
              </a:rPr>
              <a:t>AFRITALENT</a:t>
            </a:r>
            <a:endParaRPr lang="en-US" sz="2800" dirty="0">
              <a:latin typeface="Nirmala UI" pitchFamily="34" charset="0"/>
              <a:ea typeface="Nirmala UI" pitchFamily="34" charset="0"/>
              <a:cs typeface="Nirmala UI" pitchFamily="34" charset="0"/>
            </a:endParaRPr>
          </a:p>
        </p:txBody>
      </p:sp>
      <p:pic>
        <p:nvPicPr>
          <p:cNvPr id="8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250" y="230028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250" y="2257425"/>
            <a:ext cx="208483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Contexte &amp; Design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56902" y="2668786"/>
            <a:ext cx="5458968" cy="521208"/>
          </a:xfrm>
          <a:prstGeom prst="rect">
            <a:avLst/>
          </a:prstGeom>
          <a:noFill/>
          <a:ln/>
        </p:spPr>
        <p:txBody>
          <a:bodyPr vert="horz" wrap="square" lIns="40005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Bento Grid moderne et épuré pour valoriser les talents tech africains avec une interface utilisateur intuitive et réactive.</a:t>
            </a:r>
            <a:endParaRPr lang="en-US" sz="1275" dirty="0"/>
          </a:p>
        </p:txBody>
      </p:sp>
      <p:pic>
        <p:nvPicPr>
          <p:cNvPr id="11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6145" y="2300288"/>
            <a:ext cx="28575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15720" y="2257425"/>
            <a:ext cx="2057400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 Tech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315373" y="2668786"/>
            <a:ext cx="5458968" cy="521208"/>
          </a:xfrm>
          <a:prstGeom prst="rect">
            <a:avLst/>
          </a:prstGeom>
          <a:noFill/>
          <a:ln/>
        </p:spPr>
        <p:txBody>
          <a:bodyPr vert="horz" wrap="square" lIns="40005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optimisée utilisant Bootstrap et des composants interactifs en JavaScript pour une performance maximale.</a:t>
            </a:r>
            <a:endParaRPr lang="en-US" sz="1275" dirty="0"/>
          </a:p>
        </p:txBody>
      </p:sp>
      <p:pic>
        <p:nvPicPr>
          <p:cNvPr id="14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" y="3980259"/>
            <a:ext cx="209550" cy="2095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82762" y="3946922"/>
            <a:ext cx="2167128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kern="0" spc="4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Composants Clés :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457200" y="4451747"/>
            <a:ext cx="5419130" cy="2209800"/>
          </a:xfrm>
          <a:prstGeom prst="roundRect">
            <a:avLst>
              <a:gd name="adj" fmla="val 517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1"/>
          <p:cNvSpPr/>
          <p:nvPr/>
        </p:nvSpPr>
        <p:spPr>
          <a:xfrm>
            <a:off x="457200" y="4451747"/>
            <a:ext cx="0" cy="2209800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pic>
        <p:nvPicPr>
          <p:cNvPr id="18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1525" y="4775597"/>
            <a:ext cx="190500" cy="1905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33177" y="4718447"/>
            <a:ext cx="4608576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Bento Grid Layout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133177" y="5061347"/>
            <a:ext cx="4507992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 visuelle modulaire pour une présentation claire des services et profils freelances.</a:t>
            </a:r>
            <a:endParaRPr lang="en-US" sz="1200" dirty="0"/>
          </a:p>
        </p:txBody>
      </p:sp>
      <p:pic>
        <p:nvPicPr>
          <p:cNvPr id="21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71525" y="5728097"/>
            <a:ext cx="190500" cy="1905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33177" y="5670947"/>
            <a:ext cx="4608576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Agile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1133177" y="6013847"/>
            <a:ext cx="4507992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rigoureux via Git et déploiement automatisé pour une mise à jour continue du projet.</a:t>
            </a:r>
            <a:endParaRPr lang="en-US" sz="1200" dirty="0"/>
          </a:p>
        </p:txBody>
      </p:sp>
      <p:pic>
        <p:nvPicPr>
          <p:cNvPr id="24" name="Image 6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315670" y="4461272"/>
            <a:ext cx="533400" cy="5334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53870" y="4461272"/>
            <a:ext cx="3529584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&amp; DÉMO</a:t>
            </a:r>
            <a:endParaRPr lang="en-US" sz="1800" dirty="0"/>
          </a:p>
        </p:txBody>
      </p:sp>
      <p:sp>
        <p:nvSpPr>
          <p:cNvPr id="26" name="Text 17"/>
          <p:cNvSpPr/>
          <p:nvPr/>
        </p:nvSpPr>
        <p:spPr>
          <a:xfrm>
            <a:off x="7153870" y="4889897"/>
            <a:ext cx="352044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10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Versionnement:</a:t>
            </a:r>
            <a:r>
              <a:rPr lang="en-US" sz="11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Suivi intégral sur Git.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7153870" y="5185172"/>
            <a:ext cx="352044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10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Hébergement:</a:t>
            </a:r>
            <a:r>
              <a:rPr lang="en-US" sz="11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Déploiement GitHub Pages.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7153870" y="5480447"/>
            <a:ext cx="352044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620"/>
              </a:lnSpc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475041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83096"/>
            <a:ext cx="200025" cy="152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1525" y="457200"/>
            <a:ext cx="425196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kern="0" spc="7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L'AVENIR DU TRAVAIL TECH EN AFRIQUE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990600"/>
            <a:ext cx="3149203" cy="1762125"/>
          </a:xfrm>
          <a:prstGeom prst="roundRect">
            <a:avLst>
              <a:gd name="adj" fmla="val 432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990600"/>
            <a:ext cx="3152774" cy="176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057525"/>
            <a:ext cx="3149203" cy="3810000"/>
          </a:xfrm>
          <a:prstGeom prst="roundRect">
            <a:avLst>
              <a:gd name="adj" fmla="val 242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3057525"/>
            <a:ext cx="3152775" cy="3810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16003" y="1219200"/>
            <a:ext cx="7620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4598194" y="1219200"/>
            <a:ext cx="7351776" cy="4937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F8F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PRÉSENTATION </a:t>
            </a:r>
            <a:r>
              <a:rPr lang="en-US" sz="2000" b="1" dirty="0">
                <a:solidFill>
                  <a:srgbClr val="F8F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PROJET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4598194" y="1751558"/>
            <a:ext cx="7223760" cy="932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630"/>
              </a:lnSpc>
              <a:buNone/>
            </a:pPr>
            <a:r>
              <a:rPr lang="en-US" sz="2800" b="1" dirty="0">
                <a:solidFill>
                  <a:srgbClr val="E94560"/>
                </a:solidFill>
                <a:latin typeface="Nirmala UI" pitchFamily="34" charset="0"/>
                <a:ea typeface="Nirmala UI" pitchFamily="34" charset="0"/>
                <a:cs typeface="Nirmala UI" pitchFamily="34" charset="0"/>
              </a:rPr>
              <a:t>AFRITALENT : CONNECTER L'AFRIQUE</a:t>
            </a:r>
            <a:endParaRPr lang="en-US" sz="2800" dirty="0">
              <a:latin typeface="Nirmala UI" pitchFamily="34" charset="0"/>
              <a:ea typeface="Nirmala UI" pitchFamily="34" charset="0"/>
              <a:cs typeface="Nirmala UI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216003" y="3055441"/>
            <a:ext cx="7517606" cy="1743075"/>
          </a:xfrm>
          <a:prstGeom prst="roundRect">
            <a:avLst>
              <a:gd name="adj" fmla="val 437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407694" y="3245941"/>
            <a:ext cx="7324344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Croissance Freelance Tech</a:t>
            </a:r>
            <a:endParaRPr lang="en-US" sz="1650" dirty="0"/>
          </a:p>
        </p:txBody>
      </p:sp>
      <p:pic>
        <p:nvPicPr>
          <p:cNvPr id="14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39841" y="3741241"/>
            <a:ext cx="161925" cy="1619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0594" y="3703141"/>
            <a:ext cx="6830568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Essor Numérique:</a:t>
            </a: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L'Afrique connaît une dynamique sans précédent dans le secteur technologique.</a:t>
            </a:r>
            <a:endParaRPr lang="en-US" sz="1275" dirty="0"/>
          </a:p>
        </p:txBody>
      </p:sp>
      <p:sp>
        <p:nvSpPr>
          <p:cNvPr id="16" name="Text 10"/>
          <p:cNvSpPr/>
          <p:nvPr/>
        </p:nvSpPr>
        <p:spPr>
          <a:xfrm>
            <a:off x="4750594" y="4227016"/>
            <a:ext cx="6830568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Catalyseur:</a:t>
            </a: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AfriTalent agit comme le pont entre l'expertise locale et les besoins mondiaux.</a:t>
            </a:r>
            <a:endParaRPr lang="en-US" sz="1275" dirty="0"/>
          </a:p>
        </p:txBody>
      </p:sp>
      <p:sp>
        <p:nvSpPr>
          <p:cNvPr id="17" name="Text 11"/>
          <p:cNvSpPr/>
          <p:nvPr/>
        </p:nvSpPr>
        <p:spPr>
          <a:xfrm>
            <a:off x="4216003" y="5179516"/>
            <a:ext cx="7517606" cy="1457325"/>
          </a:xfrm>
          <a:prstGeom prst="roundRect">
            <a:avLst>
              <a:gd name="adj" fmla="val 5229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4407694" y="5370016"/>
            <a:ext cx="7324344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Objectif et Vision 2026</a:t>
            </a:r>
            <a:endParaRPr lang="en-US" sz="1650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39841" y="5865316"/>
            <a:ext cx="161925" cy="1619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49403" y="5827216"/>
            <a:ext cx="64373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Plateforme:</a:t>
            </a: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Créer un environnement fluide et sécurisé pour tous les acteurs tech.</a:t>
            </a:r>
            <a:endParaRPr lang="en-US" sz="1275" dirty="0"/>
          </a:p>
        </p:txBody>
      </p:sp>
      <p:pic>
        <p:nvPicPr>
          <p:cNvPr id="21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420791" y="6246316"/>
            <a:ext cx="200025" cy="1619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749403" y="6208216"/>
            <a:ext cx="649224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Connexion:</a:t>
            </a: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Relier les talents locaux aux </a:t>
            </a:r>
            <a:r>
              <a:rPr lang="en-US" sz="1275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entreprises</a:t>
            </a: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75" dirty="0" err="1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internationales</a:t>
            </a:r>
            <a:r>
              <a:rPr lang="en-US" sz="1275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190500" cy="19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3935" y="481012"/>
            <a:ext cx="482803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6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IDENTITÉ VISUELLE ET SYSTÈME DE CONCEPTION BENTO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000125"/>
            <a:ext cx="7620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36340" y="1001018"/>
            <a:ext cx="5733288" cy="4114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IDENTITÉ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36340" y="1411486"/>
            <a:ext cx="5751576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00" b="1" kern="0" spc="180" dirty="0">
                <a:solidFill>
                  <a:srgbClr val="E9456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</a:rPr>
              <a:t>PALETTE DE COULEURS</a:t>
            </a:r>
            <a:endParaRPr lang="en-US" sz="2800" dirty="0">
              <a:latin typeface="Nirmala UI Semilight" pitchFamily="34" charset="0"/>
              <a:ea typeface="Nirmala UI Semilight" pitchFamily="34" charset="0"/>
              <a:cs typeface="Nirmala UI Semilight" pitchFamily="34" charset="0"/>
            </a:endParaRPr>
          </a:p>
        </p:txBody>
      </p:sp>
      <p:pic>
        <p:nvPicPr>
          <p:cNvPr id="8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219325"/>
            <a:ext cx="257175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8675" y="2219325"/>
            <a:ext cx="5330952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Nuances Primaires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57200" y="2647950"/>
            <a:ext cx="2695575" cy="1125736"/>
          </a:xfrm>
          <a:prstGeom prst="roundRect">
            <a:avLst>
              <a:gd name="adj" fmla="val 6769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457200" y="2647950"/>
            <a:ext cx="0" cy="1125736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2838450"/>
            <a:ext cx="2377440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#1A1A2E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85800" y="3210818"/>
            <a:ext cx="2304288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Bleu Nuit : Fond immersif pour une profondeur technologique totale.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05175" y="2647950"/>
            <a:ext cx="2695575" cy="1125736"/>
          </a:xfrm>
          <a:prstGeom prst="roundRect">
            <a:avLst>
              <a:gd name="adj" fmla="val 6769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3305175" y="2647950"/>
            <a:ext cx="0" cy="1125736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33775" y="2838450"/>
            <a:ext cx="2377440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#E94560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533775" y="3210818"/>
            <a:ext cx="2304288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Rouge Corail : Accent dynamique pour l'action et l'engagement.</a:t>
            </a:r>
            <a:endParaRPr lang="en-US" sz="1050" dirty="0"/>
          </a:p>
        </p:txBody>
      </p:sp>
      <p:pic>
        <p:nvPicPr>
          <p:cNvPr id="18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1250" y="2219325"/>
            <a:ext cx="257175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62725" y="2219325"/>
            <a:ext cx="5330952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Visuelle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191250" y="2647950"/>
            <a:ext cx="304800" cy="304800"/>
          </a:xfrm>
          <a:prstGeom prst="roundRect">
            <a:avLst>
              <a:gd name="adj" fmla="val 96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310313" y="2705100"/>
            <a:ext cx="10058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648450" y="2647950"/>
            <a:ext cx="4123944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Blanc Pur (#FFFFFF)</a:t>
            </a:r>
            <a:endParaRPr lang="en-US" sz="1275" dirty="0"/>
          </a:p>
        </p:txBody>
      </p:sp>
      <p:sp>
        <p:nvSpPr>
          <p:cNvPr id="23" name="Text 18"/>
          <p:cNvSpPr/>
          <p:nvPr/>
        </p:nvSpPr>
        <p:spPr>
          <a:xfrm>
            <a:off x="6648450" y="2912715"/>
            <a:ext cx="41239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Assure une lisibilité maximale pour les contenus textes critiques.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191250" y="3253680"/>
            <a:ext cx="304800" cy="304800"/>
          </a:xfrm>
          <a:prstGeom prst="roundRect">
            <a:avLst>
              <a:gd name="adj" fmla="val 96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296025" y="3310830"/>
            <a:ext cx="1371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648450" y="3253680"/>
            <a:ext cx="3959352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Gris Doux (#95A5A6)</a:t>
            </a:r>
            <a:endParaRPr lang="en-US" sz="1275" dirty="0"/>
          </a:p>
        </p:txBody>
      </p:sp>
      <p:sp>
        <p:nvSpPr>
          <p:cNvPr id="27" name="Text 22"/>
          <p:cNvSpPr/>
          <p:nvPr/>
        </p:nvSpPr>
        <p:spPr>
          <a:xfrm>
            <a:off x="6648450" y="3518446"/>
            <a:ext cx="395935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une hiérarchie fluide pour les informations secondaires.</a:t>
            </a:r>
            <a:endParaRPr lang="en-US" sz="1050" dirty="0"/>
          </a:p>
        </p:txBody>
      </p:sp>
      <p:pic>
        <p:nvPicPr>
          <p:cNvPr id="28" name="Image 3" descr="image.png"/>
          <p:cNvPicPr>
            <a:picLocks noChangeAspect="1"/>
          </p:cNvPicPr>
          <p:nvPr/>
        </p:nvPicPr>
        <p:blipFill>
          <a:blip r:embed="rId6"/>
          <a:srcRect b="67532"/>
          <a:stretch/>
        </p:blipFill>
        <p:spPr>
          <a:xfrm>
            <a:off x="857250" y="4667250"/>
            <a:ext cx="10477500" cy="19050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47750" y="6238875"/>
            <a:ext cx="3886200" cy="238125"/>
          </a:xfrm>
          <a:prstGeom prst="roundRect">
            <a:avLst>
              <a:gd name="adj" fmla="val 16000"/>
            </a:avLst>
          </a:prstGeom>
          <a:solidFill>
            <a:srgbClr val="1A1A2E">
              <a:alpha val="8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1162050" y="6276975"/>
            <a:ext cx="375818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Expérience utilisateur fluide et sécurisée sur la plateforme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190500" cy="19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457200"/>
            <a:ext cx="3886200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60" dirty="0">
                <a:solidFill>
                  <a:srgbClr val="F8F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PLATEFORME DE FREELANCES TECH EN AFRIQUE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000125"/>
            <a:ext cx="7620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967" y="998190"/>
            <a:ext cx="6135624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Poppins" pitchFamily="34" charset="-122"/>
                <a:cs typeface="Poppins" pitchFamily="34" charset="-120"/>
              </a:rPr>
              <a:t>AFRITALENT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2967" y="1453455"/>
            <a:ext cx="6163056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00" b="1" kern="0" spc="90" dirty="0">
                <a:solidFill>
                  <a:srgbClr val="E94560"/>
                </a:solidFill>
                <a:latin typeface="Nirmala UI" pitchFamily="34" charset="0"/>
                <a:ea typeface="Nirmala UI" pitchFamily="34" charset="0"/>
                <a:cs typeface="Nirmala UI" pitchFamily="34" charset="0"/>
              </a:rPr>
              <a:t>TYPOGRAPHIE ET DESIGN</a:t>
            </a:r>
            <a:endParaRPr lang="en-US" sz="2800" dirty="0">
              <a:latin typeface="Nirmala UI" pitchFamily="34" charset="0"/>
              <a:ea typeface="Nirmala UI" pitchFamily="34" charset="0"/>
              <a:cs typeface="Nirmala UI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2295525"/>
            <a:ext cx="3555950" cy="1543050"/>
          </a:xfrm>
          <a:prstGeom prst="roundRect">
            <a:avLst>
              <a:gd name="adj" fmla="val 4938"/>
            </a:avLst>
          </a:prstGeom>
          <a:solidFill>
            <a:srgbClr val="16213E"/>
          </a:solidFill>
          <a:ln w="9525">
            <a:solidFill>
              <a:srgbClr val="E9456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2950" y="2571750"/>
            <a:ext cx="133350" cy="152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8225" y="2533650"/>
            <a:ext cx="154533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Poppins : Titres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96888" y="2914650"/>
            <a:ext cx="310896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de polices modernes et grasses pour les titres afin de garantir un impact visuel fort et immédiat.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143375"/>
            <a:ext cx="3555950" cy="1543050"/>
          </a:xfrm>
          <a:prstGeom prst="roundRect">
            <a:avLst>
              <a:gd name="adj" fmla="val 4938"/>
            </a:avLst>
          </a:prstGeom>
          <a:solidFill>
            <a:srgbClr val="16213E"/>
          </a:solidFill>
          <a:ln w="9525">
            <a:solidFill>
              <a:srgbClr val="E9456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2950" y="4419600"/>
            <a:ext cx="13335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8225" y="4381500"/>
            <a:ext cx="144475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>
              <a:lnSpc>
                <a:spcPts val="1800"/>
              </a:lnSpc>
            </a:pPr>
            <a:r>
              <a:rPr lang="en-US" sz="1400" b="1" dirty="0">
                <a:solidFill>
                  <a:srgbClr val="FFFFFF"/>
                </a:solidFill>
                <a:latin typeface="Times New Roman" pitchFamily="18" charset="0"/>
                <a:ea typeface="Poppins" pitchFamily="34" charset="-122"/>
                <a:cs typeface="Times New Roman" pitchFamily="18" charset="0"/>
              </a:rPr>
              <a:t>Times New Roman: </a:t>
            </a:r>
            <a:r>
              <a:rPr lang="en-US" sz="1400" b="1" dirty="0">
                <a:solidFill>
                  <a:srgbClr val="FFFFFF"/>
                </a:solidFill>
                <a:latin typeface="Times New Roman" pitchFamily="18" charset="0"/>
                <a:ea typeface="Poppins" pitchFamily="34" charset="-122"/>
                <a:cs typeface="Times New Roman" pitchFamily="18" charset="0"/>
              </a:rPr>
              <a:t>Lisibilité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96888" y="4762500"/>
            <a:ext cx="310896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Choix de la police </a:t>
            </a:r>
            <a:r>
              <a:rPr lang="en-US" sz="1200" dirty="0" smtClean="0">
                <a:solidFill>
                  <a:srgbClr val="F8F9FA"/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Time New Roman pour </a:t>
            </a:r>
            <a:r>
              <a:rPr lang="en-US" sz="1200" dirty="0">
                <a:solidFill>
                  <a:srgbClr val="F8F9FA"/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le corps du texte, assurant une clarté maximale et un confort de lecture optimal.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317950" y="2295525"/>
            <a:ext cx="3555950" cy="1543050"/>
          </a:xfrm>
          <a:prstGeom prst="roundRect">
            <a:avLst>
              <a:gd name="adj" fmla="val 4938"/>
            </a:avLst>
          </a:prstGeom>
          <a:solidFill>
            <a:srgbClr val="16213E"/>
          </a:solidFill>
          <a:ln w="9525">
            <a:solidFill>
              <a:srgbClr val="E9456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94175" y="2571750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98975" y="2533650"/>
            <a:ext cx="16459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 Bento Grid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557638" y="2914650"/>
            <a:ext cx="310896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 modulaire et structurée permettant une hiérarchisation efficace des informations clés de la plateforme.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317950" y="4143375"/>
            <a:ext cx="3555950" cy="1543050"/>
          </a:xfrm>
          <a:prstGeom prst="roundRect">
            <a:avLst>
              <a:gd name="adj" fmla="val 4938"/>
            </a:avLst>
          </a:prstGeom>
          <a:solidFill>
            <a:srgbClr val="16213E"/>
          </a:solidFill>
          <a:ln w="9525">
            <a:solidFill>
              <a:srgbClr val="E9456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03700" y="4419600"/>
            <a:ext cx="133350" cy="152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98975" y="4381500"/>
            <a:ext cx="128930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Grille Épurée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557638" y="4762500"/>
            <a:ext cx="310896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design sobre et efficace qui utilise des espaces négatifs pour mettre en valeur les talents technologiques africains.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178701" y="2295525"/>
            <a:ext cx="3555950" cy="1543050"/>
          </a:xfrm>
          <a:prstGeom prst="roundRect">
            <a:avLst>
              <a:gd name="adj" fmla="val 4938"/>
            </a:avLst>
          </a:prstGeom>
          <a:solidFill>
            <a:srgbClr val="16213E"/>
          </a:solidFill>
          <a:ln w="9525">
            <a:solidFill>
              <a:srgbClr val="E9456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35876" y="2571750"/>
            <a:ext cx="190500" cy="1524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59726" y="2533650"/>
            <a:ext cx="16459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Identité Visuelle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418388" y="2914650"/>
            <a:ext cx="310896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esthétique tech cohérente qui reflète le professionnalisme et l'innovation des freelances du continent.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178701" y="4143375"/>
            <a:ext cx="3555950" cy="1543050"/>
          </a:xfrm>
          <a:prstGeom prst="roundRect">
            <a:avLst>
              <a:gd name="adj" fmla="val 4938"/>
            </a:avLst>
          </a:prstGeom>
          <a:solidFill>
            <a:srgbClr val="16213E"/>
          </a:solidFill>
          <a:ln w="9525">
            <a:solidFill>
              <a:srgbClr val="E9456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6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83501" y="4419600"/>
            <a:ext cx="95250" cy="1524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759726" y="4381500"/>
            <a:ext cx="148132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Réactif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8418388" y="4762500"/>
            <a:ext cx="310896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pensée pour une expérience utilisateur fluide sur tous les supports numériques modernes et mobiles.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93970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238125" cy="19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8732" y="457200"/>
            <a:ext cx="3941064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30" dirty="0">
                <a:solidFill>
                  <a:srgbClr val="F8F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AFRITALENT — PLATEFORME DE FREELANCES TECH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000125"/>
            <a:ext cx="76200" cy="12192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38200" y="1001985"/>
            <a:ext cx="5120640" cy="3657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050" b="1" dirty="0">
                <a:solidFill>
                  <a:srgbClr val="F8F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ORGANISATION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8200" y="1443782"/>
            <a:ext cx="5038344" cy="8961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2800" b="1" kern="0" spc="70" dirty="0" smtClean="0">
                <a:solidFill>
                  <a:srgbClr val="E9456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</a:rPr>
              <a:t>ARBORESCENCE </a:t>
            </a:r>
          </a:p>
          <a:p>
            <a:pPr marL="0" indent="0" algn="l">
              <a:lnSpc>
                <a:spcPts val="3465"/>
              </a:lnSpc>
              <a:buNone/>
            </a:pPr>
            <a:r>
              <a:rPr lang="en-US" sz="2800" b="1" kern="0" spc="70" dirty="0" smtClean="0">
                <a:solidFill>
                  <a:srgbClr val="E9456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</a:rPr>
              <a:t>DU </a:t>
            </a:r>
            <a:r>
              <a:rPr lang="en-US" sz="2800" b="1" kern="0" spc="70" dirty="0">
                <a:solidFill>
                  <a:srgbClr val="E9456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</a:rPr>
              <a:t>PROJET</a:t>
            </a:r>
            <a:endParaRPr lang="en-US" sz="2800" dirty="0">
              <a:latin typeface="Nirmala UI Semilight" pitchFamily="34" charset="0"/>
              <a:ea typeface="Nirmala UI Semilight" pitchFamily="34" charset="0"/>
              <a:cs typeface="Nirmala UI Semilight" pitchFamily="34" charset="0"/>
            </a:endParaRPr>
          </a:p>
        </p:txBody>
      </p:sp>
      <p:pic>
        <p:nvPicPr>
          <p:cNvPr id="8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82" y="2731443"/>
            <a:ext cx="4082635" cy="3219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1228725"/>
            <a:ext cx="5334000" cy="3084016"/>
          </a:xfrm>
          <a:prstGeom prst="roundRect">
            <a:avLst>
              <a:gd name="adj" fmla="val 247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629400" y="1457325"/>
            <a:ext cx="5029200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 des Dossiers</a:t>
            </a:r>
            <a:endParaRPr lang="en-US" sz="1800" dirty="0"/>
          </a:p>
        </p:txBody>
      </p:sp>
      <p:pic>
        <p:nvPicPr>
          <p:cNvPr id="11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67500" y="2066925"/>
            <a:ext cx="152400" cy="152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72300" y="1979265"/>
            <a:ext cx="4572000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css/ :</a:t>
            </a: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Styles globaux et Bootstrap personnalisé pour l'interface.</a:t>
            </a:r>
            <a:endParaRPr lang="en-US" sz="1350" dirty="0"/>
          </a:p>
        </p:txBody>
      </p:sp>
      <p:pic>
        <p:nvPicPr>
          <p:cNvPr id="13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48450" y="2720280"/>
            <a:ext cx="190500" cy="152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72300" y="2680246"/>
            <a:ext cx="4572000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js/ :</a:t>
            </a: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Scripts fonctionnels et animations JavaScript dynamiques.</a:t>
            </a:r>
            <a:endParaRPr lang="en-US" sz="1350" dirty="0"/>
          </a:p>
        </p:txBody>
      </p:sp>
      <p:pic>
        <p:nvPicPr>
          <p:cNvPr id="15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86550" y="3421261"/>
            <a:ext cx="114300" cy="1524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72300" y="3381226"/>
            <a:ext cx="4572000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images/ :</a:t>
            </a: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Assets graphiques optimisés pour la performance web.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400800" y="4693741"/>
            <a:ext cx="5334000" cy="1407765"/>
          </a:xfrm>
          <a:prstGeom prst="roundRect">
            <a:avLst>
              <a:gd name="adj" fmla="val 541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6629400" y="4922341"/>
            <a:ext cx="5029200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 smtClean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Lien Du Site</a:t>
            </a:r>
            <a:endParaRPr lang="en-US" sz="1800" dirty="0"/>
          </a:p>
        </p:txBody>
      </p:sp>
      <p:pic>
        <p:nvPicPr>
          <p:cNvPr id="19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86550" y="5484316"/>
            <a:ext cx="1143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72300" y="5445249"/>
            <a:ext cx="43068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fr-FR" sz="1400" b="1" dirty="0">
                <a:solidFill>
                  <a:srgbClr val="C7C7C7"/>
                </a:solidFill>
                <a:latin typeface="Google Sans Code"/>
              </a:rPr>
              <a:t>https://alsane57.github.io/-Diop-Alassane-AfriTalent/</a:t>
            </a:r>
            <a:endParaRPr lang="en-US" sz="1350" b="1" dirty="0"/>
          </a:p>
        </p:txBody>
      </p:sp>
      <p:pic>
        <p:nvPicPr>
          <p:cNvPr id="21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49440" y="2130126"/>
            <a:ext cx="190500" cy="15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86575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238125" cy="19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9625" y="481012"/>
            <a:ext cx="551383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3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AFRITALENT ��� PLATEFORME DE FREELANCES TECH EN AFRIQUE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312596" y="923925"/>
            <a:ext cx="3630168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b="1" kern="0" spc="24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 DU SITE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97294" y="1304925"/>
            <a:ext cx="4700016" cy="5029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200" b="1" kern="0" spc="90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5 PAGES CLÉS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715000" y="2028825"/>
            <a:ext cx="762000" cy="57150"/>
          </a:xfrm>
          <a:prstGeom prst="roundRect">
            <a:avLst>
              <a:gd name="adj" fmla="val 33333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2619375"/>
            <a:ext cx="5334000" cy="381000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619375"/>
            <a:ext cx="5334000" cy="3810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2785170"/>
            <a:ext cx="5334000" cy="1596330"/>
          </a:xfrm>
          <a:prstGeom prst="roundRect">
            <a:avLst>
              <a:gd name="adj" fmla="val 477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591300" y="2975670"/>
            <a:ext cx="0" cy="314325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781800" y="2975670"/>
            <a:ext cx="4901184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Navigation Principale</a:t>
            </a:r>
            <a:endParaRPr lang="en-US" sz="1650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15113" y="3470970"/>
            <a:ext cx="180975" cy="1619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4200" y="3431902"/>
            <a:ext cx="379476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Accueil :</a:t>
            </a: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Hero section &amp; Valeurs fondamentales.</a:t>
            </a:r>
            <a:endParaRPr lang="en-US" sz="1275" dirty="0"/>
          </a:p>
        </p:txBody>
      </p:sp>
      <p:sp>
        <p:nvSpPr>
          <p:cNvPr id="15" name="Text 10"/>
          <p:cNvSpPr/>
          <p:nvPr/>
        </p:nvSpPr>
        <p:spPr>
          <a:xfrm>
            <a:off x="6934200" y="3810967"/>
            <a:ext cx="392277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Catalogue :</a:t>
            </a: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Liste exhaustive des freelances tech.</a:t>
            </a:r>
            <a:endParaRPr lang="en-US" sz="1275" dirty="0"/>
          </a:p>
        </p:txBody>
      </p:sp>
      <p:pic>
        <p:nvPicPr>
          <p:cNvPr id="16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05588" y="3850035"/>
            <a:ext cx="200025" cy="1619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0" y="4667250"/>
            <a:ext cx="5334000" cy="1596330"/>
          </a:xfrm>
          <a:prstGeom prst="roundRect">
            <a:avLst>
              <a:gd name="adj" fmla="val 477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6591300" y="4857750"/>
            <a:ext cx="0" cy="314325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781800" y="4857750"/>
            <a:ext cx="4901184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Services &amp; Support</a:t>
            </a:r>
            <a:endParaRPr lang="en-US" sz="1650" dirty="0"/>
          </a:p>
        </p:txBody>
      </p:sp>
      <p:pic>
        <p:nvPicPr>
          <p:cNvPr id="20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05588" y="5353050"/>
            <a:ext cx="200025" cy="1619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34200" y="5313983"/>
            <a:ext cx="356616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Tarifs :</a:t>
            </a: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Grille détaillée des offres de services.</a:t>
            </a:r>
            <a:endParaRPr lang="en-US" sz="1275" dirty="0"/>
          </a:p>
        </p:txBody>
      </p:sp>
      <p:pic>
        <p:nvPicPr>
          <p:cNvPr id="22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24638" y="5732115"/>
            <a:ext cx="161925" cy="1619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34200" y="5693048"/>
            <a:ext cx="328269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Propos :</a:t>
            </a: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Équipe et support client dédié.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44274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238125" cy="19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7765" y="457200"/>
            <a:ext cx="436168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6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AFRITALENT — PLATEFORME DE FREELANCES TECH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952500"/>
            <a:ext cx="7620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952500"/>
            <a:ext cx="5888736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 TECHNIQUE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62000" y="1487760"/>
            <a:ext cx="5907024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630"/>
              </a:lnSpc>
              <a:buNone/>
            </a:pPr>
            <a:r>
              <a:rPr lang="en-US" sz="2800" b="1" dirty="0">
                <a:solidFill>
                  <a:srgbClr val="E9456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</a:rPr>
              <a:t>MODE SOMBRE DYNAMIQUE</a:t>
            </a:r>
            <a:endParaRPr lang="en-US" sz="2800" dirty="0">
              <a:latin typeface="Nirmala UI Semilight" pitchFamily="34" charset="0"/>
              <a:ea typeface="Nirmala UI Semilight" pitchFamily="34" charset="0"/>
              <a:cs typeface="Nirmala UI Semilight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2518321"/>
            <a:ext cx="3383161" cy="2295525"/>
          </a:xfrm>
          <a:prstGeom prst="roundRect">
            <a:avLst>
              <a:gd name="adj" fmla="val 3320"/>
            </a:avLst>
          </a:prstGeom>
          <a:solidFill>
            <a:srgbClr val="16213E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34468" y="2832646"/>
            <a:ext cx="428625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198" y="3442246"/>
            <a:ext cx="159105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BOUTON TOGGLE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72418" y="3813721"/>
            <a:ext cx="278892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Interrupteur interactif pour un basculement fluide entre les thèmes visuels.</a:t>
            </a:r>
            <a:endParaRPr lang="en-US" sz="1125" dirty="0"/>
          </a:p>
        </p:txBody>
      </p:sp>
      <p:pic>
        <p:nvPicPr>
          <p:cNvPr id="12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50953" y="3551783"/>
            <a:ext cx="142875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04420" y="2518321"/>
            <a:ext cx="3383161" cy="2295525"/>
          </a:xfrm>
          <a:prstGeom prst="roundRect">
            <a:avLst>
              <a:gd name="adj" fmla="val 3320"/>
            </a:avLst>
          </a:prstGeom>
          <a:solidFill>
            <a:srgbClr val="16213E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29313" y="2832646"/>
            <a:ext cx="333375" cy="381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89271" y="3442246"/>
            <a:ext cx="165506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STOCKAGE LOCAL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719638" y="3813721"/>
            <a:ext cx="278892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du localStorage pour sauvegarder la préférence utilisateur côté client.</a:t>
            </a:r>
            <a:endParaRPr lang="en-US" sz="1125" dirty="0"/>
          </a:p>
        </p:txBody>
      </p:sp>
      <p:pic>
        <p:nvPicPr>
          <p:cNvPr id="17" name="Image 4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98172" y="3551783"/>
            <a:ext cx="142875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351639" y="2518321"/>
            <a:ext cx="3383161" cy="2295525"/>
          </a:xfrm>
          <a:prstGeom prst="roundRect">
            <a:avLst>
              <a:gd name="adj" fmla="val 3320"/>
            </a:avLst>
          </a:prstGeom>
          <a:solidFill>
            <a:srgbClr val="16213E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5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2720" y="2832646"/>
            <a:ext cx="381000" cy="3810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445373" y="3442246"/>
            <a:ext cx="123444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PERSISTANCE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8666857" y="3813721"/>
            <a:ext cx="278892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Maintien automatique de l'état choisi même après le rafraîchissement de la page.</a:t>
            </a:r>
            <a:endParaRPr lang="en-US" sz="1125" dirty="0"/>
          </a:p>
        </p:txBody>
      </p:sp>
      <p:sp>
        <p:nvSpPr>
          <p:cNvPr id="22" name="Shape 14"/>
          <p:cNvSpPr/>
          <p:nvPr/>
        </p:nvSpPr>
        <p:spPr>
          <a:xfrm>
            <a:off x="457200" y="5818733"/>
            <a:ext cx="11277600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457200" y="5385346"/>
            <a:ext cx="1154887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OPTIMISATIONS ET PERFORMANCE</a:t>
            </a:r>
            <a:endParaRPr lang="en-US" sz="1650" dirty="0"/>
          </a:p>
        </p:txBody>
      </p:sp>
      <p:sp>
        <p:nvSpPr>
          <p:cNvPr id="24" name="Shape 16"/>
          <p:cNvSpPr/>
          <p:nvPr/>
        </p:nvSpPr>
        <p:spPr>
          <a:xfrm>
            <a:off x="457200" y="6980783"/>
            <a:ext cx="5486400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457200" y="6128296"/>
            <a:ext cx="72926" cy="762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684163" y="6052096"/>
            <a:ext cx="540410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Script Anti-Scintillement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84163" y="6385471"/>
            <a:ext cx="5294376" cy="365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Chargement optimisé pour éviter le flash blanc avant l'application du thème sombre.</a:t>
            </a:r>
            <a:endParaRPr lang="en-US" sz="1125" dirty="0"/>
          </a:p>
        </p:txBody>
      </p:sp>
      <p:sp>
        <p:nvSpPr>
          <p:cNvPr id="28" name="Shape 20"/>
          <p:cNvSpPr/>
          <p:nvPr/>
        </p:nvSpPr>
        <p:spPr>
          <a:xfrm>
            <a:off x="6248400" y="6980783"/>
            <a:ext cx="5486400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248400" y="6128296"/>
            <a:ext cx="75158" cy="762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6476479" y="6052096"/>
            <a:ext cx="540410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Expérience Utilisateur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6476479" y="6385471"/>
            <a:ext cx="5294376" cy="365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adaptative garantissant un confort visuel optimal pour les développeurs.</a:t>
            </a:r>
            <a:endParaRPr lang="en-US" sz="11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33275"/>
            <a:ext cx="12192000" cy="707695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28575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6580" y="476250"/>
            <a:ext cx="563270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kern="0" spc="3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AFRITALENT — PLATEFORME DE FREELANCES TECH EN AFRIQUE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1066800"/>
            <a:ext cx="7620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40135" y="1066800"/>
            <a:ext cx="530352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 TECHNIQUE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40135" y="1447800"/>
            <a:ext cx="5321808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kern="0" spc="180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COMPTEURS ANIMÉS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438400"/>
            <a:ext cx="5605272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Mécanisme IntersectionObserver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2933700"/>
            <a:ext cx="2609850" cy="1771650"/>
          </a:xfrm>
          <a:prstGeom prst="roundRect">
            <a:avLst>
              <a:gd name="adj" fmla="val 430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3162300"/>
            <a:ext cx="32385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3676650"/>
            <a:ext cx="224028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Détection Scroll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4019550"/>
            <a:ext cx="218541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Déclenchement automatique de l'animation au défilement.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95650" y="2933700"/>
            <a:ext cx="2609850" cy="1771650"/>
          </a:xfrm>
          <a:prstGeom prst="roundRect">
            <a:avLst>
              <a:gd name="adj" fmla="val 430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24250" y="3162300"/>
            <a:ext cx="247650" cy="342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4250" y="3676650"/>
            <a:ext cx="224028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524250" y="4019550"/>
            <a:ext cx="218541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Exécution optimisée sans surcharge du processeur.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86500" y="2438400"/>
            <a:ext cx="5605272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Expérience Utilisateur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86500" y="2933700"/>
            <a:ext cx="2609850" cy="1771650"/>
          </a:xfrm>
          <a:prstGeom prst="roundRect">
            <a:avLst>
              <a:gd name="adj" fmla="val 430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15100" y="3162300"/>
            <a:ext cx="323850" cy="342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15100" y="3676650"/>
            <a:ext cx="224028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Animation Fluide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515100" y="4019550"/>
            <a:ext cx="218541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Incrémentation dynamique pour valoriser les stats.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124950" y="2933700"/>
            <a:ext cx="2609850" cy="1771650"/>
          </a:xfrm>
          <a:prstGeom prst="roundRect">
            <a:avLst>
              <a:gd name="adj" fmla="val 430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353550" y="3162300"/>
            <a:ext cx="323850" cy="3429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53550" y="3676650"/>
            <a:ext cx="224028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 Visuel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9353550" y="4019550"/>
            <a:ext cx="218541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moderne, interactive et engageante.</a:t>
            </a:r>
            <a:endParaRPr lang="en-US" sz="1200" dirty="0"/>
          </a:p>
        </p:txBody>
      </p:sp>
      <p:pic>
        <p:nvPicPr>
          <p:cNvPr id="26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7200" y="5124450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8200" y="5086350"/>
            <a:ext cx="5221224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des Statistiques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445465" y="5581650"/>
            <a:ext cx="1197864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94560"/>
                </a:solidFill>
                <a:latin typeface="Arial Rounded MT Bold" pitchFamily="34" charset="0"/>
                <a:ea typeface="Poppins" pitchFamily="34" charset="-122"/>
                <a:cs typeface="Poppins" charset="0"/>
              </a:rPr>
              <a:t>100%</a:t>
            </a:r>
            <a:endParaRPr lang="en-US" sz="2700" dirty="0">
              <a:latin typeface="Arial Rounded MT Bold" pitchFamily="34" charset="0"/>
              <a:cs typeface="Poppins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45846" y="6038850"/>
            <a:ext cx="116128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Fluidité Visuelle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2612974" y="5581650"/>
            <a:ext cx="114300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94560"/>
                </a:solidFill>
                <a:latin typeface="Arial Rounded MT Bold" pitchFamily="34" charset="0"/>
                <a:ea typeface="Poppins" pitchFamily="34" charset="-122"/>
                <a:cs typeface="Poppins" charset="0"/>
              </a:rPr>
              <a:t>0ms</a:t>
            </a:r>
            <a:endParaRPr lang="en-US" sz="2700" dirty="0">
              <a:latin typeface="Arial Rounded MT Bold" pitchFamily="34" charset="0"/>
              <a:cs typeface="Poppins" charset="0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2613355" y="6038850"/>
            <a:ext cx="110642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Latence Scroll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721523" y="5581650"/>
            <a:ext cx="127101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94560"/>
                </a:solidFill>
                <a:latin typeface="Arial Rounded MT Bold" pitchFamily="34" charset="0"/>
                <a:ea typeface="Poppins" pitchFamily="34" charset="-122"/>
                <a:cs typeface="Poppins" pitchFamily="34" charset="-120"/>
              </a:rPr>
              <a:t>Top</a:t>
            </a:r>
            <a:endParaRPr lang="en-US" sz="2700" dirty="0">
              <a:latin typeface="Arial Rounded MT Bold" pitchFamily="34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4721904" y="6038850"/>
            <a:ext cx="123444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Rendu Moderne</a:t>
            </a:r>
            <a:endParaRPr lang="en-US" sz="1200" dirty="0"/>
          </a:p>
        </p:txBody>
      </p:sp>
      <p:pic>
        <p:nvPicPr>
          <p:cNvPr id="34" name="Image 6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86500" y="5124450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667500" y="5086350"/>
            <a:ext cx="5221224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Processus d'Intégration</a:t>
            </a:r>
            <a:endParaRPr lang="en-US" sz="1800" dirty="0"/>
          </a:p>
        </p:txBody>
      </p:sp>
      <p:sp>
        <p:nvSpPr>
          <p:cNvPr id="36" name="Text 27"/>
          <p:cNvSpPr/>
          <p:nvPr/>
        </p:nvSpPr>
        <p:spPr>
          <a:xfrm>
            <a:off x="6591300" y="558165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6729413" y="5676900"/>
            <a:ext cx="22860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586423" y="6115050"/>
            <a:ext cx="5029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Cible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6586423" y="6343650"/>
            <a:ext cx="5029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7429500" y="6076950"/>
            <a:ext cx="24125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8051750" y="558165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8175575" y="5676900"/>
            <a:ext cx="256032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50" dirty="0"/>
          </a:p>
        </p:txBody>
      </p:sp>
      <p:sp>
        <p:nvSpPr>
          <p:cNvPr id="43" name="Text 34"/>
          <p:cNvSpPr/>
          <p:nvPr/>
        </p:nvSpPr>
        <p:spPr>
          <a:xfrm>
            <a:off x="7935145" y="6115050"/>
            <a:ext cx="72237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Observer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7935145" y="6343650"/>
            <a:ext cx="72237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8889950" y="6076950"/>
            <a:ext cx="24125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9512201" y="558165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8"/>
          <p:cNvSpPr/>
          <p:nvPr/>
        </p:nvSpPr>
        <p:spPr>
          <a:xfrm>
            <a:off x="9626501" y="5676900"/>
            <a:ext cx="27432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50" dirty="0"/>
          </a:p>
        </p:txBody>
      </p:sp>
      <p:sp>
        <p:nvSpPr>
          <p:cNvPr id="48" name="Text 39"/>
          <p:cNvSpPr/>
          <p:nvPr/>
        </p:nvSpPr>
        <p:spPr>
          <a:xfrm>
            <a:off x="9478177" y="6115050"/>
            <a:ext cx="55778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9478177" y="6343650"/>
            <a:ext cx="55778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Scroll</a:t>
            </a:r>
            <a:endParaRPr lang="en-US" sz="1200" dirty="0"/>
          </a:p>
        </p:txBody>
      </p:sp>
      <p:sp>
        <p:nvSpPr>
          <p:cNvPr id="50" name="Text 41"/>
          <p:cNvSpPr/>
          <p:nvPr/>
        </p:nvSpPr>
        <p:spPr>
          <a:xfrm>
            <a:off x="10350401" y="6076950"/>
            <a:ext cx="24125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10972651" y="558165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11091714" y="5676900"/>
            <a:ext cx="26517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50" dirty="0"/>
          </a:p>
        </p:txBody>
      </p:sp>
      <p:sp>
        <p:nvSpPr>
          <p:cNvPr id="53" name="Text 44"/>
          <p:cNvSpPr/>
          <p:nvPr/>
        </p:nvSpPr>
        <p:spPr>
          <a:xfrm>
            <a:off x="10967774" y="6115050"/>
            <a:ext cx="5029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Anime</a:t>
            </a:r>
            <a:endParaRPr lang="en-US" sz="1200" dirty="0"/>
          </a:p>
        </p:txBody>
      </p:sp>
      <p:sp>
        <p:nvSpPr>
          <p:cNvPr id="54" name="Text 45"/>
          <p:cNvSpPr/>
          <p:nvPr/>
        </p:nvSpPr>
        <p:spPr>
          <a:xfrm>
            <a:off x="10967774" y="6343650"/>
            <a:ext cx="5029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079425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238125" cy="19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8732" y="457200"/>
            <a:ext cx="287121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6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WEB AFRICAIN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952500"/>
            <a:ext cx="7620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3488" y="952500"/>
            <a:ext cx="7059168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AFRITALENT PLATFORME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63488" y="1410593"/>
            <a:ext cx="7077456" cy="4389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1200" b="1" kern="0" spc="70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 ET FRAMEWORK BOOTSTRAP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324100"/>
            <a:ext cx="5524500" cy="2028825"/>
          </a:xfrm>
          <a:prstGeom prst="roundRect">
            <a:avLst>
              <a:gd name="adj" fmla="val 3756"/>
            </a:avLst>
          </a:prstGeom>
          <a:solidFill>
            <a:srgbClr val="16213E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1525" y="2957513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E9456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125" y="3186113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62125" y="2814638"/>
            <a:ext cx="4050792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B5 GRID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762125" y="3195638"/>
            <a:ext cx="40233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GRILLE RESPONSIVE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762125" y="3462338"/>
            <a:ext cx="3931920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en page adaptative optimisée pour les freelances tech, garantissant une lisibilité parfaite sur tous les écrans.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210300" y="2324100"/>
            <a:ext cx="5524500" cy="2028825"/>
          </a:xfrm>
          <a:prstGeom prst="roundRect">
            <a:avLst>
              <a:gd name="adj" fmla="val 3756"/>
            </a:avLst>
          </a:prstGeom>
          <a:solidFill>
            <a:srgbClr val="16213E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524625" y="2957513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E9456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34175" y="3186113"/>
            <a:ext cx="342900" cy="304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15225" y="2814638"/>
            <a:ext cx="4050792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SLIDER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515225" y="3195638"/>
            <a:ext cx="40233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COMPOSANT CAROUSEL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515225" y="3462338"/>
            <a:ext cx="3931920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Défilement fluide et interactif des témoignages clients pour renforcer la crédibilité des talents africains.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4581525"/>
            <a:ext cx="5524500" cy="2028825"/>
          </a:xfrm>
          <a:prstGeom prst="roundRect">
            <a:avLst>
              <a:gd name="adj" fmla="val 3756"/>
            </a:avLst>
          </a:prstGeom>
          <a:solidFill>
            <a:srgbClr val="16213E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71525" y="5214938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E9456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0125" y="5443538"/>
            <a:ext cx="304800" cy="3048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62125" y="5072063"/>
            <a:ext cx="4050792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FAQ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762125" y="5453063"/>
            <a:ext cx="40233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COMPOSANT ACCORDION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762125" y="5719763"/>
            <a:ext cx="3931920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interactive permettant une navigation rapide dans les questions fréquentes des utilisateurs.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210300" y="4581525"/>
            <a:ext cx="5524500" cy="2028825"/>
          </a:xfrm>
          <a:prstGeom prst="roundRect">
            <a:avLst>
              <a:gd name="adj" fmla="val 3756"/>
            </a:avLst>
          </a:prstGeom>
          <a:solidFill>
            <a:srgbClr val="16213E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6524625" y="5214938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E9456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53225" y="5443538"/>
            <a:ext cx="304800" cy="3048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15225" y="5072063"/>
            <a:ext cx="4050792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BENTO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7515225" y="5453063"/>
            <a:ext cx="40233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MODERNE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515225" y="5719763"/>
            <a:ext cx="3931920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visuelle via Bento Grid pour une interface utilisateur structurée, élégante et très performante.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5" y="0"/>
            <a:ext cx="12192000" cy="6869875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928688"/>
            <a:ext cx="11277600" cy="0"/>
          </a:xfrm>
          <a:prstGeom prst="line">
            <a:avLst/>
          </a:prstGeom>
          <a:noFill/>
          <a:ln w="9525">
            <a:solidFill>
              <a:srgbClr val="F8F9FA">
                <a:alpha val="10000"/>
              </a:srgbClr>
            </a:solidFill>
            <a:prstDash val="solid"/>
          </a:ln>
        </p:spPr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142875" cy="190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2961" y="495300"/>
            <a:ext cx="363016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kern="0" spc="2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AFRITALENT — PLATEFORME DE FREELANCES TECH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390650"/>
            <a:ext cx="76200" cy="887611"/>
          </a:xfrm>
          <a:prstGeom prst="roundRect">
            <a:avLst>
              <a:gd name="adj" fmla="val 25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36340" y="1390650"/>
            <a:ext cx="714146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b="1" dirty="0">
                <a:solidFill>
                  <a:srgbClr val="F8F9FA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 ET DÉPLOIEMENT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36340" y="1734443"/>
            <a:ext cx="7187184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2800" b="1" kern="0" spc="90" dirty="0">
                <a:solidFill>
                  <a:srgbClr val="E94560"/>
                </a:solidFill>
                <a:latin typeface="Nirmala UI" pitchFamily="34" charset="0"/>
                <a:ea typeface="Nirmala UI" pitchFamily="34" charset="0"/>
                <a:cs typeface="Nirmala UI" pitchFamily="34" charset="0"/>
              </a:rPr>
              <a:t>WORKFLOW GIT ET GITHUB</a:t>
            </a:r>
            <a:endParaRPr lang="en-US" sz="2800" dirty="0">
              <a:latin typeface="Nirmala UI" pitchFamily="34" charset="0"/>
              <a:ea typeface="Nirmala UI" pitchFamily="34" charset="0"/>
              <a:cs typeface="Nirmala UI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3040261"/>
            <a:ext cx="3555950" cy="238125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87363" y="3268861"/>
            <a:ext cx="3282696" cy="6126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erpetua Titling MT" pitchFamily="18" charset="0"/>
                <a:ea typeface="Poppins" pitchFamily="34" charset="-122"/>
                <a:cs typeface="Poppins" pitchFamily="34" charset="-120"/>
              </a:rPr>
              <a:t>10</a:t>
            </a:r>
            <a:endParaRPr lang="en-US" sz="4800" dirty="0">
              <a:latin typeface="Perpetua Titling MT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7363" y="3992761"/>
            <a:ext cx="320040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5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COMMITS STRUCTURÉS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4349948"/>
            <a:ext cx="3098750" cy="0"/>
          </a:xfrm>
          <a:prstGeom prst="line">
            <a:avLst/>
          </a:prstGeom>
          <a:noFill/>
          <a:ln w="9525">
            <a:solidFill>
              <a:srgbClr val="E94560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7363" y="4507111"/>
            <a:ext cx="312724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de Git Flow pour une gestion de version rigoureuse et organisée sur le dépôt officiel du projet hebdomadaire.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4317950" y="3040261"/>
            <a:ext cx="3555950" cy="238125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548113" y="3268861"/>
            <a:ext cx="3282696" cy="6126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erpetua Titling MT" pitchFamily="18" charset="0"/>
                <a:ea typeface="Poppins" pitchFamily="34" charset="-122"/>
                <a:cs typeface="Poppins" pitchFamily="34" charset="-120"/>
              </a:rPr>
              <a:t>CI/CD</a:t>
            </a:r>
            <a:endParaRPr lang="en-US" sz="4800" dirty="0">
              <a:latin typeface="Perpetua Titling MT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48113" y="3992761"/>
            <a:ext cx="320040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5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PAGES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46550" y="4349948"/>
            <a:ext cx="3098750" cy="0"/>
          </a:xfrm>
          <a:prstGeom prst="line">
            <a:avLst/>
          </a:prstGeom>
          <a:noFill/>
          <a:ln w="9525">
            <a:solidFill>
              <a:srgbClr val="E94560">
                <a:alpha val="3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48113" y="4507111"/>
            <a:ext cx="312724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Hébergement automatisé et intégration continue permettant un déploiement fluide de l'interface utilisateur AfriTalent.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8178701" y="3040261"/>
            <a:ext cx="3556099" cy="2381250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8408938" y="3268861"/>
            <a:ext cx="3282696" cy="6126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erpetua Titling MT" pitchFamily="18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4800" dirty="0">
              <a:latin typeface="Perpetua Titling MT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408938" y="3992761"/>
            <a:ext cx="320040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ACCÈS PLATEFORME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407301" y="4349948"/>
            <a:ext cx="3098899" cy="0"/>
          </a:xfrm>
          <a:prstGeom prst="line">
            <a:avLst/>
          </a:prstGeom>
          <a:noFill/>
          <a:ln w="9525">
            <a:solidFill>
              <a:srgbClr val="E94560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08938" y="4507111"/>
            <a:ext cx="312724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Lien direct vers la version de production hébergée : alsane57.github.io/AfriTalent pour une visualisation en temps réel.</a:t>
            </a:r>
            <a:endParaRPr lang="en-US" sz="1125" dirty="0"/>
          </a:p>
        </p:txBody>
      </p:sp>
      <p:sp>
        <p:nvSpPr>
          <p:cNvPr id="24" name="Shape 21"/>
          <p:cNvSpPr/>
          <p:nvPr/>
        </p:nvSpPr>
        <p:spPr>
          <a:xfrm>
            <a:off x="457200" y="6005513"/>
            <a:ext cx="11277600" cy="0"/>
          </a:xfrm>
          <a:prstGeom prst="line">
            <a:avLst/>
          </a:prstGeom>
          <a:noFill/>
          <a:ln w="9525">
            <a:solidFill>
              <a:srgbClr val="F8F9FA">
                <a:alpha val="10000"/>
              </a:srgbClr>
            </a:solidFill>
            <a:prstDash val="solid"/>
          </a:ln>
        </p:spPr>
      </p:sp>
      <p:pic>
        <p:nvPicPr>
          <p:cNvPr id="2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6238875"/>
            <a:ext cx="133350" cy="13335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66750" y="6238875"/>
            <a:ext cx="11320272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>
              <a:lnSpc>
                <a:spcPts val="1260"/>
              </a:lnSpc>
            </a:pPr>
            <a:r>
              <a:rPr lang="en-US" sz="1000" dirty="0" err="1">
                <a:solidFill>
                  <a:srgbClr val="F8F9FA">
                    <a:alpha val="60000"/>
                  </a:srgbClr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Outils</a:t>
            </a:r>
            <a:r>
              <a:rPr lang="en-US" sz="1000" dirty="0">
                <a:solidFill>
                  <a:srgbClr val="F8F9FA">
                    <a:alpha val="60000"/>
                  </a:srgbClr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 utilisés : </a:t>
            </a:r>
            <a:r>
              <a:rPr lang="en-US" sz="1000" dirty="0" err="1">
                <a:solidFill>
                  <a:srgbClr val="F8F9FA">
                    <a:alpha val="60000"/>
                  </a:srgbClr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Git</a:t>
            </a:r>
            <a:r>
              <a:rPr lang="en-US" sz="1000" dirty="0">
                <a:solidFill>
                  <a:srgbClr val="F8F9FA">
                    <a:alpha val="60000"/>
                  </a:srgbClr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 Flow, </a:t>
            </a:r>
            <a:r>
              <a:rPr lang="en-US" sz="1000" dirty="0" err="1">
                <a:solidFill>
                  <a:srgbClr val="F8F9FA">
                    <a:alpha val="60000"/>
                  </a:srgbClr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GitHub</a:t>
            </a:r>
            <a:r>
              <a:rPr lang="en-US" sz="1000" dirty="0">
                <a:solidFill>
                  <a:srgbClr val="F8F9FA">
                    <a:alpha val="60000"/>
                  </a:srgbClr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 Actions, et </a:t>
            </a:r>
            <a:r>
              <a:rPr lang="en-US" sz="1000" dirty="0" err="1">
                <a:solidFill>
                  <a:srgbClr val="F8F9FA">
                    <a:alpha val="60000"/>
                  </a:srgbClr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Intégration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928688"/>
            <a:ext cx="11277600" cy="0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238125" cy="190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7765" y="495300"/>
            <a:ext cx="3108960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kern="0" spc="20" dirty="0">
                <a:solidFill>
                  <a:srgbClr val="F8F9FA"/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AFRITALENT — PLATEFORME TECH AFRIQUE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1390650"/>
            <a:ext cx="76200" cy="883890"/>
          </a:xfrm>
          <a:prstGeom prst="roundRect">
            <a:avLst>
              <a:gd name="adj" fmla="val 25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37307" y="1390650"/>
            <a:ext cx="6647688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9FA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RÉSOLUTION DE PROBLÈMES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37307" y="1770683"/>
            <a:ext cx="6675120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2800" b="1" kern="0" spc="90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DIFFICULTÉS </a:t>
            </a:r>
            <a:r>
              <a:rPr lang="en-US" sz="2800" b="1" kern="0" spc="90" dirty="0">
                <a:solidFill>
                  <a:srgbClr val="E9456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</a:rPr>
              <a:t>ET SOLUTIONS</a:t>
            </a:r>
            <a:endParaRPr lang="en-US" sz="2800" dirty="0">
              <a:latin typeface="Nirmala UI Semilight" pitchFamily="34" charset="0"/>
              <a:ea typeface="Nirmala UI Semilight" pitchFamily="34" charset="0"/>
              <a:cs typeface="Nirmala UI Semilight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3112740"/>
            <a:ext cx="3606701" cy="2531566"/>
          </a:xfrm>
          <a:prstGeom prst="roundRect">
            <a:avLst>
              <a:gd name="adj" fmla="val 1505"/>
            </a:avLst>
          </a:prstGeom>
          <a:solidFill>
            <a:srgbClr val="16213E"/>
          </a:solidFill>
          <a:ln w="9525">
            <a:solidFill>
              <a:srgbClr val="E9456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525" y="3427065"/>
            <a:ext cx="238125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9888" y="4131915"/>
            <a:ext cx="309067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Défi : Mobilité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769888" y="4597598"/>
            <a:ext cx="3017520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 de l'affichage sur petits écrans (375px) via Flexbox pour une expérience utilisateur fluide en Afrique.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292501" y="3112740"/>
            <a:ext cx="3606850" cy="2531566"/>
          </a:xfrm>
          <a:prstGeom prst="roundRect">
            <a:avLst>
              <a:gd name="adj" fmla="val 1505"/>
            </a:avLst>
          </a:prstGeom>
          <a:solidFill>
            <a:srgbClr val="16213E"/>
          </a:solidFill>
          <a:ln w="9525">
            <a:solidFill>
              <a:srgbClr val="E9456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06826" y="3427065"/>
            <a:ext cx="38100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05263" y="4131915"/>
            <a:ext cx="309067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Défi : Validation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4605263" y="4597598"/>
            <a:ext cx="3017520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Sécurisation avancée des formulaires par expressions régulières (Regex) pour garantir l'intégrité des données.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127950" y="3112740"/>
            <a:ext cx="3606850" cy="2531566"/>
          </a:xfrm>
          <a:prstGeom prst="roundRect">
            <a:avLst>
              <a:gd name="adj" fmla="val 1505"/>
            </a:avLst>
          </a:prstGeom>
          <a:solidFill>
            <a:srgbClr val="16213E"/>
          </a:solidFill>
          <a:ln w="9525">
            <a:solidFill>
              <a:srgbClr val="E9456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42275" y="3427065"/>
            <a:ext cx="381000" cy="381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40713" y="4131915"/>
            <a:ext cx="309067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: Qualité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8440713" y="4597598"/>
            <a:ext cx="3017520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en œuvre de tests unitaires JS pour la vérification systématique de la logique métier et la stabilité du code.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180975" cy="19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582" y="457200"/>
            <a:ext cx="373075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6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AFRITALENT — PLATEFORME TECH AFRIQUE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952500"/>
            <a:ext cx="76200" cy="9144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952500"/>
            <a:ext cx="7050024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8F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SOUTIEN AUX DÉVELOPPEURS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62000" y="1409700"/>
            <a:ext cx="7068312" cy="4023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irmala UI" pitchFamily="34" charset="0"/>
                <a:ea typeface="Nirmala UI" pitchFamily="34" charset="0"/>
                <a:cs typeface="Nirmala UI" pitchFamily="34" charset="0"/>
              </a:rPr>
              <a:t>RESSOURCES ET DOCUMENTATION</a:t>
            </a:r>
            <a:endParaRPr lang="en-US" sz="2800" dirty="0">
              <a:latin typeface="Nirmala UI" pitchFamily="34" charset="0"/>
              <a:ea typeface="Nirmala UI" pitchFamily="34" charset="0"/>
              <a:cs typeface="Nirmala UI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2324100"/>
            <a:ext cx="3606701" cy="2667000"/>
          </a:xfrm>
          <a:prstGeom prst="roundRect">
            <a:avLst>
              <a:gd name="adj" fmla="val 4286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2000" y="26289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1063" y="2762250"/>
            <a:ext cx="219075" cy="190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0363" y="3276600"/>
            <a:ext cx="3099816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MDN Web Docs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60363" y="3678436"/>
            <a:ext cx="3035808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Référence absolue pour les standards du web. Documentation technique complète pour HTML, JavaScript et les API web modernes.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292501" y="2324100"/>
            <a:ext cx="3606850" cy="2667000"/>
          </a:xfrm>
          <a:prstGeom prst="roundRect">
            <a:avLst>
              <a:gd name="adj" fmla="val 4286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597301" y="26289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6838" y="2762250"/>
            <a:ext cx="238125" cy="190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95738" y="3276600"/>
            <a:ext cx="3099816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W3Schools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95738" y="3678436"/>
            <a:ext cx="3035808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Guides pratiques et références CSS. Idéal pour l'apprentissage interactif et la vérification rapide des syntaxes de mise en forme.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27950" y="2324100"/>
            <a:ext cx="3606850" cy="2667000"/>
          </a:xfrm>
          <a:prstGeom prst="roundRect">
            <a:avLst>
              <a:gd name="adj" fmla="val 4286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8432750" y="26289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66100" y="2762250"/>
            <a:ext cx="190500" cy="1905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31188" y="3276600"/>
            <a:ext cx="3099816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Bootstrap Docs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431188" y="3678436"/>
            <a:ext cx="3035808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officielle des composants UI. Utilisation des systèmes de grille et des éléments prédéfinis pour un design responsive.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5376863"/>
            <a:ext cx="11277600" cy="0"/>
          </a:xfrm>
          <a:prstGeom prst="line">
            <a:avLst/>
          </a:prstGeom>
          <a:noFill/>
          <a:ln w="9525">
            <a:solidFill>
              <a:srgbClr val="343C51"/>
            </a:solidFill>
            <a:prstDash val="solid"/>
          </a:ln>
        </p:spPr>
      </p:sp>
      <p:pic>
        <p:nvPicPr>
          <p:cNvPr id="24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5614988"/>
            <a:ext cx="152400" cy="1524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3900" y="5610225"/>
            <a:ext cx="6793992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Times New Roman" pitchFamily="18" charset="0"/>
                <a:ea typeface="Inter" pitchFamily="34" charset="-122"/>
                <a:cs typeface="Times New Roman" pitchFamily="18" charset="0"/>
              </a:rPr>
              <a:t>Toutes les ressources sont sélectionnées pour favoriser l'excellence technique des freelances africains.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421761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504230"/>
            <a:ext cx="200025" cy="152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0111" y="457200"/>
            <a:ext cx="578815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kern="0" spc="60" dirty="0">
                <a:solidFill>
                  <a:srgbClr val="F8F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AFRITALENT — PLATEFORME DE FREELANCES TECH EN AFRIQUE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1019175"/>
            <a:ext cx="3470821" cy="3048000"/>
          </a:xfrm>
          <a:prstGeom prst="roundRect">
            <a:avLst>
              <a:gd name="adj" fmla="val 250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019175"/>
            <a:ext cx="3467100" cy="304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295775"/>
            <a:ext cx="3470821" cy="228600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4295775"/>
            <a:ext cx="3467100" cy="2286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04271" y="1019175"/>
            <a:ext cx="76200" cy="85725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4747171" y="1019175"/>
            <a:ext cx="6382512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b="1" dirty="0">
                <a:solidFill>
                  <a:srgbClr val="F8F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FEUILLE DE ROUTE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4747171" y="1515368"/>
            <a:ext cx="6400800" cy="4389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200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 ET PERSPECTIVES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404271" y="2335411"/>
            <a:ext cx="7330380" cy="1981200"/>
          </a:xfrm>
          <a:prstGeom prst="roundRect">
            <a:avLst>
              <a:gd name="adj" fmla="val 192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592836" y="2525911"/>
            <a:ext cx="7141464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Innovations Techniques</a:t>
            </a:r>
            <a:endParaRPr lang="en-US" sz="1650" dirty="0"/>
          </a:p>
        </p:txBody>
      </p:sp>
      <p:pic>
        <p:nvPicPr>
          <p:cNvPr id="14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18583" y="3030736"/>
            <a:ext cx="180975" cy="1619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35736" y="2983111"/>
            <a:ext cx="6647688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Messagerie Temps Réel :</a:t>
            </a:r>
            <a:r>
              <a:rPr lang="en-US" sz="127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Communication instantanée via </a:t>
            </a:r>
            <a:r>
              <a:rPr lang="en-US" sz="1275" dirty="0" smtClean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Socket.io</a:t>
            </a:r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 smtClean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75" dirty="0"/>
          </a:p>
        </p:txBody>
      </p:sp>
      <p:pic>
        <p:nvPicPr>
          <p:cNvPr id="16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28108" y="3687961"/>
            <a:ext cx="161925" cy="1619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35736" y="3640336"/>
            <a:ext cx="6647688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 Node.js :</a:t>
            </a:r>
            <a:r>
              <a:rPr lang="en-US" sz="127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Migration vers une architecture serveur robuste et scalable pour la croissance.</a:t>
            </a:r>
            <a:endParaRPr lang="en-US" sz="1275" dirty="0"/>
          </a:p>
        </p:txBody>
      </p:sp>
      <p:sp>
        <p:nvSpPr>
          <p:cNvPr id="18" name="Text 11"/>
          <p:cNvSpPr/>
          <p:nvPr/>
        </p:nvSpPr>
        <p:spPr>
          <a:xfrm>
            <a:off x="4404271" y="4649986"/>
            <a:ext cx="7330380" cy="1981200"/>
          </a:xfrm>
          <a:prstGeom prst="roundRect">
            <a:avLst>
              <a:gd name="adj" fmla="val 192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4592836" y="4840486"/>
            <a:ext cx="7141464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E945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Vision à Long Terme</a:t>
            </a:r>
            <a:endParaRPr lang="en-US" sz="1650" dirty="0"/>
          </a:p>
        </p:txBody>
      </p:sp>
      <p:pic>
        <p:nvPicPr>
          <p:cNvPr id="20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56683" y="5345311"/>
            <a:ext cx="104775" cy="1619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35736" y="5297686"/>
            <a:ext cx="6647688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Évolution Web App :</a:t>
            </a:r>
            <a:r>
              <a:rPr lang="en-US" sz="127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Transformation d'AfriTalent en une application web progressive complète (PWA).</a:t>
            </a:r>
            <a:endParaRPr lang="en-US" sz="1275" dirty="0"/>
          </a:p>
        </p:txBody>
      </p:sp>
      <p:pic>
        <p:nvPicPr>
          <p:cNvPr id="22" name="Image 6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32871" y="6002536"/>
            <a:ext cx="152400" cy="16192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35736" y="5954911"/>
            <a:ext cx="6647688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 :</a:t>
            </a:r>
            <a:r>
              <a:rPr lang="en-US" sz="1275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Consolider l'écosystème pour devenir la référence du freelancing tech africain.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1285</Words>
  <Application>Microsoft Office PowerPoint</Application>
  <PresentationFormat>Personnalisé</PresentationFormat>
  <Paragraphs>254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31" baseType="lpstr">
      <vt:lpstr>Arial</vt:lpstr>
      <vt:lpstr>Calibri Light</vt:lpstr>
      <vt:lpstr>Times New Roman</vt:lpstr>
      <vt:lpstr>Calibri</vt:lpstr>
      <vt:lpstr>Inter</vt:lpstr>
      <vt:lpstr>Arial Rounded MT Bold</vt:lpstr>
      <vt:lpstr>Google Sans Code</vt:lpstr>
      <vt:lpstr>Poppins</vt:lpstr>
      <vt:lpstr>等线</vt:lpstr>
      <vt:lpstr>Nirmala UI Semilight</vt:lpstr>
      <vt:lpstr>等线 Light</vt:lpstr>
      <vt:lpstr>Nirmala UI</vt:lpstr>
      <vt:lpstr>Arial Black</vt:lpstr>
      <vt:lpstr>Perpetua Titling MT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jms</dc:creator>
  <cp:lastModifiedBy>ousmane</cp:lastModifiedBy>
  <cp:revision>14</cp:revision>
  <dcterms:created xsi:type="dcterms:W3CDTF">2026-06-16T23:30:16Z</dcterms:created>
  <dcterms:modified xsi:type="dcterms:W3CDTF">2026-06-23T22:11:47Z</dcterms:modified>
</cp:coreProperties>
</file>